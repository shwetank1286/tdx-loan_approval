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bin" ContentType="image/jpeg"/>
  <Override PartName="/ppt/media/image18.bin" ContentType="image/jpeg"/>
  <Override PartName="/ppt/media/image22.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8.bin" ContentType="image/svg+xml"/>
  <Override PartName="/ppt/media/image29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301" r:id="rId2"/>
    <p:sldId id="315" r:id="rId3"/>
    <p:sldId id="326" r:id="rId4"/>
    <p:sldId id="340" r:id="rId5"/>
    <p:sldId id="386" r:id="rId6"/>
    <p:sldId id="424" r:id="rId7"/>
    <p:sldId id="447" r:id="rId8"/>
    <p:sldId id="481" r:id="rId9"/>
  </p:sldIdLst>
  <p:sldSz cx="18288000" cy="10287000"/>
  <p:notesSz cx="18288000" cy="10287000"/>
  <p:embeddedFontLst>
    <p:embeddedFont>
      <p:font typeface="Poppins SemiBold" charset="0"/>
      <p:regular r:id="rId10"/>
    </p:embeddedFont>
    <p:embeddedFont>
      <p:font typeface="Lato" charset="0"/>
      <p:regular r:id="rId11"/>
      <p:bold r:id="rId12"/>
    </p:embeddedFon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Calibri Light" pitchFamily="34" charset="0"/>
      <p:regular r:id="rId17"/>
      <p: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1" d="100"/>
          <a:sy n="61" d="100"/>
        </p:scale>
        <p:origin x="-230" y="-1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31" Type="http://schemas.openxmlformats.org/officeDocument/2006/relationships/image" Target="../media/image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bin"/><Relationship Id="rId3" Type="http://schemas.openxmlformats.org/officeDocument/2006/relationships/image" Target="../media/image7.bin"/><Relationship Id="rId7" Type="http://schemas.openxmlformats.org/officeDocument/2006/relationships/image" Target="../media/image1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bin"/><Relationship Id="rId5" Type="http://schemas.openxmlformats.org/officeDocument/2006/relationships/image" Target="../media/image10.bin"/><Relationship Id="rId4" Type="http://schemas.openxmlformats.org/officeDocument/2006/relationships/image" Target="../media/image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bin"/><Relationship Id="rId5" Type="http://schemas.openxmlformats.org/officeDocument/2006/relationships/image" Target="../media/image16.bin"/><Relationship Id="rId4" Type="http://schemas.openxmlformats.org/officeDocument/2006/relationships/image" Target="../media/image1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29.bin"/><Relationship Id="rId4" Type="http://schemas.openxmlformats.org/officeDocument/2006/relationships/image" Target="../media/image1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bin"/><Relationship Id="rId5" Type="http://schemas.openxmlformats.org/officeDocument/2006/relationships/image" Target="../media/image22.bin"/><Relationship Id="rId4" Type="http://schemas.openxmlformats.org/officeDocument/2006/relationships/image" Target="../media/image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03" name="Awesome Presentation Title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76300" y="876300"/>
            <a:ext cx="6605588" cy="2619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sz="54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LoanMate AI: Smart Intent Detection</a:t>
            </a:r>
          </a:p>
        </p:txBody>
      </p:sp>
      <p:sp>
        <p:nvSpPr>
          <p:cNvPr id="305" name="A small sentence which explains all about this presentation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76300" y="3601117"/>
            <a:ext cx="66055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dirty="0">
                <a:solidFill>
                  <a:srgbClr val="50545B">
                    <a:alpha val="100000"/>
                  </a:srgbClr>
                </a:solidFill>
                <a:latin typeface="Lato" panose="00000700000000000000" pitchFamily="2" charset="0"/>
              </a:rPr>
              <a:t>An innovative AI tool for understanding customer intents and assisting with loans.</a:t>
            </a:r>
          </a:p>
        </p:txBody>
      </p:sp>
      <p:sp>
        <p:nvSpPr>
          <p:cNvPr id="307" name="Presenter Name-452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76300" y="8905875"/>
            <a:ext cx="6605588" cy="514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Team : Lightning Boltz </a:t>
            </a:r>
          </a:p>
        </p:txBody>
      </p:sp>
      <p:pic>
        <p:nvPicPr>
          <p:cNvPr id="309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320831" y="438150"/>
            <a:ext cx="9086850" cy="9410700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11" name="coverimage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320850" y="438150"/>
            <a:ext cx="9086850" cy="9410700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13" name="layoutShapeInnerChild1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916150" y="6686550"/>
            <a:ext cx="33718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17" name="Click here to edit title-489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76300" y="1295400"/>
            <a:ext cx="12834938" cy="1181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sz="72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Introducing LoanMate AI</a:t>
            </a:r>
          </a:p>
        </p:txBody>
      </p:sp>
      <p:pic>
        <p:nvPicPr>
          <p:cNvPr id="319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76300" y="838200"/>
            <a:ext cx="2733675" cy="400050"/>
          </a:xfrm>
          <a:prstGeom prst="rect">
            <a:avLst/>
          </a:prstGeom>
        </p:spPr>
      </p:pic>
      <p:sp>
        <p:nvSpPr>
          <p:cNvPr id="321" name="Click here to edit label-416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104900" y="895350"/>
            <a:ext cx="2309812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b="1" spc="18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LOAN ASSISTANT</a:t>
            </a:r>
          </a:p>
        </p:txBody>
      </p:sp>
      <p:sp>
        <p:nvSpPr>
          <p:cNvPr id="323" name="Click here to edit subtitle-499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4533900" y="8953500"/>
            <a:ext cx="1291113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92"/>
              </a:lnSpc>
            </a:pPr>
            <a:r>
              <a:rPr lang="en-US" sz="2100" dirty="0">
                <a:solidFill>
                  <a:srgbClr val="50545B">
                    <a:alpha val="100000"/>
                  </a:srgbClr>
                </a:solidFill>
                <a:latin typeface="Lato" panose="00000700000000000000" pitchFamily="2" charset="0"/>
              </a:rPr>
              <a:t>Enhancing user experience in financial services with intelligent assistance.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Rect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8" name="svg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D66DB95-742C-46FC-B345-CD4E3C946DE1}">
                <asvg:svgBlip xmlns:asvg="http://schemas.microsoft.com/office/drawing/2016/SVG/main" xmlns:p14="http://schemas.microsoft.com/office/powerpoint/2010/main" xmlns:a14="http://schemas.microsoft.com/office/drawing/2010/main" xmlns:a16="http://schemas.microsoft.com/office/drawing/2014/main" xmlns="" r:embed="rId31"/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29" name="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8372475" y="2994850"/>
            <a:ext cx="8729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Natural Language Queries</a:t>
            </a:r>
          </a:p>
        </p:txBody>
      </p:sp>
      <p:sp>
        <p:nvSpPr>
          <p:cNvPr id="330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8372475" y="3455003"/>
            <a:ext cx="8729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Users can interact with LoanMate AI using natural language, simplifying inquiries about loans.</a:t>
            </a:r>
          </a:p>
        </p:txBody>
      </p:sp>
      <p:sp>
        <p:nvSpPr>
          <p:cNvPr id="331" name="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7829550" y="4823650"/>
            <a:ext cx="80914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smtClean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Agent force</a:t>
            </a:r>
            <a:r>
              <a:rPr lang="en-US" sz="2100" b="1" smtClean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 </a:t>
            </a: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Intent Detection</a:t>
            </a:r>
          </a:p>
        </p:txBody>
      </p:sp>
      <p:sp>
        <p:nvSpPr>
          <p:cNvPr id="332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7829550" y="5283803"/>
            <a:ext cx="80914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This technology classifies user intent to determine the appropriate loan service required.</a:t>
            </a:r>
          </a:p>
        </p:txBody>
      </p:sp>
      <p:sp>
        <p:nvSpPr>
          <p:cNvPr id="333" name="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0029825" y="6474142"/>
            <a:ext cx="7605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Automated Case Creation</a:t>
            </a:r>
          </a:p>
        </p:txBody>
      </p:sp>
      <p:sp>
        <p:nvSpPr>
          <p:cNvPr id="334" name="Description of a 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0029825" y="6934295"/>
            <a:ext cx="7605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LoanMate AI automatically creates and routes cases to agents based on user queries, improving response times.</a:t>
            </a:r>
          </a:p>
        </p:txBody>
      </p:sp>
      <p:sp>
        <p:nvSpPr>
          <p:cNvPr id="335" name="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1744325" y="8301514"/>
            <a:ext cx="58912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User Intent Classification</a:t>
            </a:r>
          </a:p>
        </p:txBody>
      </p:sp>
      <p:sp>
        <p:nvSpPr>
          <p:cNvPr id="336" name="Description of a 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1744325" y="8761666"/>
            <a:ext cx="58912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The system extracts relevant details like loan type and purpose from user queries to assist effectively.</a:t>
            </a:r>
          </a:p>
        </p:txBody>
      </p:sp>
      <p:sp>
        <p:nvSpPr>
          <p:cNvPr id="337" name="Click here to edit title-498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876300" y="838200"/>
            <a:ext cx="16568738" cy="733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2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Streamlining Loan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42" name="layoutShapeInnerChild1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6686550"/>
            <a:ext cx="18288000" cy="3600450"/>
          </a:xfrm>
          <a:prstGeom prst="rect">
            <a:avLst/>
          </a:prstGeom>
        </p:spPr>
      </p:pic>
      <p:pic>
        <p:nvPicPr>
          <p:cNvPr id="343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76300" y="3101626"/>
            <a:ext cx="419100" cy="438150"/>
          </a:xfrm>
          <a:prstGeom prst="rect">
            <a:avLst/>
          </a:prstGeom>
        </p:spPr>
      </p:pic>
      <p:sp>
        <p:nvSpPr>
          <p:cNvPr id="345" name="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990695" y="3169634"/>
            <a:ext cx="2238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485" dirty="0">
                <a:solidFill>
                  <a:srgbClr val="0A9DDA">
                    <a:alpha val="100000"/>
                  </a:srgbClr>
                </a:solidFill>
                <a:latin typeface="Poppins SemiBold" panose="00000700000000000000" pitchFamily="2" charset="0"/>
              </a:rPr>
              <a:t>01</a:t>
            </a:r>
          </a:p>
        </p:txBody>
      </p:sp>
      <p:sp>
        <p:nvSpPr>
          <p:cNvPr id="347" name="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3101626"/>
            <a:ext cx="15968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User Intent Understanding</a:t>
            </a:r>
          </a:p>
        </p:txBody>
      </p:sp>
      <p:sp>
        <p:nvSpPr>
          <p:cNvPr id="349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3561778"/>
            <a:ext cx="1596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LoanMate AI effectively understands user intent, ensuring accurate interpretation of customer needs, leading to enhanced service delivery.</a:t>
            </a:r>
          </a:p>
        </p:txBody>
      </p:sp>
      <p:pic>
        <p:nvPicPr>
          <p:cNvPr id="351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76300" y="4223194"/>
            <a:ext cx="419100" cy="438150"/>
          </a:xfrm>
          <a:prstGeom prst="rect">
            <a:avLst/>
          </a:prstGeom>
        </p:spPr>
      </p:pic>
      <p:sp>
        <p:nvSpPr>
          <p:cNvPr id="353" name="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970788" y="4291203"/>
            <a:ext cx="2619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485" dirty="0">
                <a:solidFill>
                  <a:srgbClr val="FCBF05">
                    <a:alpha val="100000"/>
                  </a:srgbClr>
                </a:solidFill>
                <a:latin typeface="Poppins SemiBold" panose="00000700000000000000" pitchFamily="2" charset="0"/>
              </a:rPr>
              <a:t>02</a:t>
            </a:r>
          </a:p>
        </p:txBody>
      </p:sp>
      <p:sp>
        <p:nvSpPr>
          <p:cNvPr id="355" name="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4223194"/>
            <a:ext cx="15968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Automated Case Generation</a:t>
            </a:r>
          </a:p>
        </p:txBody>
      </p:sp>
      <p:sp>
        <p:nvSpPr>
          <p:cNvPr id="357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4683347"/>
            <a:ext cx="1596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By auto-generating cases for agents, LoanMate AI streamlines case creation, allowing human agents to focus on more complex tasks.</a:t>
            </a:r>
          </a:p>
        </p:txBody>
      </p:sp>
      <p:pic>
        <p:nvPicPr>
          <p:cNvPr id="359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876300" y="5344763"/>
            <a:ext cx="419100" cy="438150"/>
          </a:xfrm>
          <a:prstGeom prst="rect">
            <a:avLst/>
          </a:prstGeom>
        </p:spPr>
      </p:pic>
      <p:sp>
        <p:nvSpPr>
          <p:cNvPr id="361" name="-2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968407" y="5412772"/>
            <a:ext cx="271462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485" dirty="0">
                <a:solidFill>
                  <a:srgbClr val="4AA19B">
                    <a:alpha val="100000"/>
                  </a:srgbClr>
                </a:solidFill>
                <a:latin typeface="Poppins SemiBold" panose="00000700000000000000" pitchFamily="2" charset="0"/>
              </a:rPr>
              <a:t>03</a:t>
            </a:r>
          </a:p>
        </p:txBody>
      </p:sp>
      <p:sp>
        <p:nvSpPr>
          <p:cNvPr id="363" name="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5344763"/>
            <a:ext cx="15968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Knowledge Article Suggestions</a:t>
            </a:r>
          </a:p>
        </p:txBody>
      </p:sp>
      <p:sp>
        <p:nvSpPr>
          <p:cNvPr id="365" name="Description of a 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5804916"/>
            <a:ext cx="1596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LoanMate AI suggests relevant knowledge articles, improving user support and education, which enhances overall customer satisfaction.</a:t>
            </a:r>
          </a:p>
        </p:txBody>
      </p:sp>
      <p:pic>
        <p:nvPicPr>
          <p:cNvPr id="367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876300" y="6466332"/>
            <a:ext cx="419100" cy="438150"/>
          </a:xfrm>
          <a:prstGeom prst="rect">
            <a:avLst/>
          </a:prstGeom>
        </p:spPr>
      </p:pic>
      <p:sp>
        <p:nvSpPr>
          <p:cNvPr id="369" name="-3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962501" y="6534340"/>
            <a:ext cx="28098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485" dirty="0">
                <a:solidFill>
                  <a:srgbClr val="F0984E">
                    <a:alpha val="100000"/>
                  </a:srgbClr>
                </a:solidFill>
                <a:latin typeface="Poppins SemiBold" panose="00000700000000000000" pitchFamily="2" charset="0"/>
              </a:rPr>
              <a:t>04</a:t>
            </a:r>
          </a:p>
        </p:txBody>
      </p:sp>
      <p:sp>
        <p:nvSpPr>
          <p:cNvPr id="371" name="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6466332"/>
            <a:ext cx="15968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Reduced Manual Intake</a:t>
            </a:r>
          </a:p>
        </p:txBody>
      </p:sp>
      <p:sp>
        <p:nvSpPr>
          <p:cNvPr id="373" name="Description of a 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6926485"/>
            <a:ext cx="1596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The solution reduces manual intake, significantly lowering the workload on human agents and improving operational efficiency.</a:t>
            </a:r>
          </a:p>
        </p:txBody>
      </p:sp>
      <p:pic>
        <p:nvPicPr>
          <p:cNvPr id="375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876300" y="7587901"/>
            <a:ext cx="419100" cy="438150"/>
          </a:xfrm>
          <a:prstGeom prst="rect">
            <a:avLst/>
          </a:prstGeom>
        </p:spPr>
      </p:pic>
      <p:sp>
        <p:nvSpPr>
          <p:cNvPr id="377" name="-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964120" y="7655909"/>
            <a:ext cx="28098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485" dirty="0">
                <a:solidFill>
                  <a:srgbClr val="C96480">
                    <a:alpha val="100000"/>
                  </a:srgbClr>
                </a:solidFill>
                <a:latin typeface="Poppins SemiBold" panose="00000700000000000000" pitchFamily="2" charset="0"/>
              </a:rPr>
              <a:t>05</a:t>
            </a:r>
          </a:p>
        </p:txBody>
      </p:sp>
      <p:sp>
        <p:nvSpPr>
          <p:cNvPr id="379" name="Primary Heading-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7587901"/>
            <a:ext cx="159686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Hybrid Customer Support</a:t>
            </a:r>
          </a:p>
        </p:txBody>
      </p:sp>
      <p:sp>
        <p:nvSpPr>
          <p:cNvPr id="381" name="Description of a primary heading-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78280" y="8048054"/>
            <a:ext cx="1596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LoanMate AI supports AI + human help, facilitating a hybrid approach that combines the strengths of both AI and human agents.</a:t>
            </a:r>
          </a:p>
        </p:txBody>
      </p:sp>
      <p:sp>
        <p:nvSpPr>
          <p:cNvPr id="383" name="Click here to edit title-423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76300" y="838200"/>
            <a:ext cx="16568738" cy="733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2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Enhancing Banking with AI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88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76300" y="876300"/>
            <a:ext cx="5029200" cy="8534400"/>
          </a:xfrm>
          <a:prstGeom prst="rect">
            <a:avLst/>
          </a:prstGeom>
        </p:spPr>
      </p:pic>
      <p:sp>
        <p:nvSpPr>
          <p:cNvPr id="390" name="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485900" y="3652838"/>
            <a:ext cx="3843338" cy="1133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00" b="1" dirty="0">
                <a:solidFill>
                  <a:srgbClr val="FFFFFF">
                    <a:alpha val="100000"/>
                  </a:srgbClr>
                </a:solidFill>
                <a:latin typeface="Poppins" panose="00000700000000000000" pitchFamily="2" charset="0"/>
              </a:rPr>
              <a:t>LoanMate AI Mission</a:t>
            </a:r>
          </a:p>
        </p:txBody>
      </p:sp>
      <p:sp>
        <p:nvSpPr>
          <p:cNvPr id="392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664208" y="4852226"/>
            <a:ext cx="366503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Revolutionize the loan application process</a:t>
            </a:r>
          </a:p>
        </p:txBody>
      </p:sp>
      <p:pic>
        <p:nvPicPr>
          <p:cNvPr id="394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485900" y="4994815"/>
            <a:ext cx="71140" cy="71140"/>
          </a:xfrm>
          <a:prstGeom prst="rect">
            <a:avLst/>
          </a:prstGeom>
        </p:spPr>
      </p:pic>
      <p:sp>
        <p:nvSpPr>
          <p:cNvPr id="396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664208" y="5717762"/>
            <a:ext cx="36650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Provide a user-friendly interface</a:t>
            </a:r>
          </a:p>
        </p:txBody>
      </p:sp>
      <p:pic>
        <p:nvPicPr>
          <p:cNvPr id="398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485900" y="5860447"/>
            <a:ext cx="71140" cy="71140"/>
          </a:xfrm>
          <a:prstGeom prst="rect">
            <a:avLst/>
          </a:prstGeom>
        </p:spPr>
      </p:pic>
      <p:sp>
        <p:nvSpPr>
          <p:cNvPr id="400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664208" y="6226778"/>
            <a:ext cx="36650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Leverage advanced AI capabilities</a:t>
            </a:r>
          </a:p>
        </p:txBody>
      </p:sp>
      <p:pic>
        <p:nvPicPr>
          <p:cNvPr id="402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485900" y="6369463"/>
            <a:ext cx="71140" cy="71140"/>
          </a:xfrm>
          <a:prstGeom prst="rect">
            <a:avLst/>
          </a:prstGeom>
        </p:spPr>
      </p:pic>
      <p:pic>
        <p:nvPicPr>
          <p:cNvPr id="404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5905500" y="876300"/>
            <a:ext cx="5029200" cy="8534400"/>
          </a:xfrm>
          <a:prstGeom prst="rect">
            <a:avLst/>
          </a:prstGeom>
        </p:spPr>
      </p:pic>
      <p:sp>
        <p:nvSpPr>
          <p:cNvPr id="406" name="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6515100" y="3652838"/>
            <a:ext cx="3843338" cy="1133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300" b="1" dirty="0">
                <a:solidFill>
                  <a:srgbClr val="FFFFFF">
                    <a:alpha val="100000"/>
                  </a:srgbClr>
                </a:solidFill>
                <a:latin typeface="Poppins" panose="00000700000000000000" pitchFamily="2" charset="0"/>
              </a:rPr>
              <a:t>LoanMate AI Vision</a:t>
            </a:r>
          </a:p>
        </p:txBody>
      </p:sp>
      <p:sp>
        <p:nvSpPr>
          <p:cNvPr id="408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6693408" y="4852226"/>
            <a:ext cx="36650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Integrate intelligent assistance</a:t>
            </a:r>
          </a:p>
        </p:txBody>
      </p:sp>
      <p:pic>
        <p:nvPicPr>
          <p:cNvPr id="410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515100" y="4994815"/>
            <a:ext cx="71140" cy="71140"/>
          </a:xfrm>
          <a:prstGeom prst="rect">
            <a:avLst/>
          </a:prstGeom>
        </p:spPr>
      </p:pic>
      <p:sp>
        <p:nvSpPr>
          <p:cNvPr id="412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6693408" y="5361146"/>
            <a:ext cx="36650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Make financial services accessible</a:t>
            </a:r>
          </a:p>
        </p:txBody>
      </p:sp>
      <p:pic>
        <p:nvPicPr>
          <p:cNvPr id="414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515100" y="5503831"/>
            <a:ext cx="71140" cy="71140"/>
          </a:xfrm>
          <a:prstGeom prst="rect">
            <a:avLst/>
          </a:prstGeom>
        </p:spPr>
      </p:pic>
      <p:sp>
        <p:nvSpPr>
          <p:cNvPr id="416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6693408" y="5870162"/>
            <a:ext cx="36650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Lato" panose="00000700000000000000" pitchFamily="2" charset="0"/>
              </a:rPr>
              <a:t>Enhance efficiency for all users</a:t>
            </a:r>
          </a:p>
        </p:txBody>
      </p:sp>
      <p:pic>
        <p:nvPicPr>
          <p:cNvPr id="418" name="::after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515100" y="6012847"/>
            <a:ext cx="71140" cy="71140"/>
          </a:xfrm>
          <a:prstGeom prst="rect">
            <a:avLst/>
          </a:prstGeom>
        </p:spPr>
      </p:pic>
      <p:sp>
        <p:nvSpPr>
          <p:cNvPr id="420" name="Click here to edit title-481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11849100" y="838200"/>
            <a:ext cx="5557838" cy="1428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5460"/>
              </a:lnSpc>
            </a:pPr>
            <a:r>
              <a:rPr lang="en-US" sz="42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LoanMate AI Mission &amp; Vision</a:t>
            </a:r>
          </a:p>
        </p:txBody>
      </p:sp>
      <p:pic>
        <p:nvPicPr>
          <p:cNvPr id="422" name="layoutShapeInnerChild1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16150" y="6686550"/>
            <a:ext cx="33718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Rect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26" name="layoutShapeInnerChild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6686550"/>
            <a:ext cx="18288000" cy="3600450"/>
          </a:xfrm>
          <a:prstGeom prst="rect">
            <a:avLst/>
          </a:prstGeom>
        </p:spPr>
      </p:pic>
      <p:pic>
        <p:nvPicPr>
          <p:cNvPr id="427" name="pyramidsvg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F46665D-FFE6-436A-800E-0BE2C89D2786}">
                <asvg:svgBlip xmlns:asvg="http://schemas.microsoft.com/office/drawing/2016/SVG/main" xmlns:p14="http://schemas.microsoft.com/office/powerpoint/2010/main" xmlns:a14="http://schemas.microsoft.com/office/drawing/2010/main" xmlns:a16="http://schemas.microsoft.com/office/drawing/2014/main" xmlns="" r:embed="rId78"/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971550" y="3800475"/>
            <a:ext cx="16440150" cy="1333500"/>
          </a:xfrm>
          <a:prstGeom prst="rect">
            <a:avLst/>
          </a:prstGeom>
        </p:spPr>
      </p:pic>
      <p:sp>
        <p:nvSpPr>
          <p:cNvPr id="428" name="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066800" y="5438775"/>
            <a:ext cx="37195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User Testing</a:t>
            </a:r>
          </a:p>
        </p:txBody>
      </p:sp>
      <p:sp>
        <p:nvSpPr>
          <p:cNvPr id="430" name="Description of a primary heading-0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066800" y="5898928"/>
            <a:ext cx="37195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Conduct user testing to gather feedback on the interface, ensuring it meets user expectations and usability standards.</a:t>
            </a:r>
          </a:p>
        </p:txBody>
      </p:sp>
      <p:sp>
        <p:nvSpPr>
          <p:cNvPr id="432" name="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5129212" y="5438775"/>
            <a:ext cx="37195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Technical Architecture</a:t>
            </a:r>
          </a:p>
        </p:txBody>
      </p:sp>
      <p:sp>
        <p:nvSpPr>
          <p:cNvPr id="434" name="Description of a primary heading-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5129212" y="5898928"/>
            <a:ext cx="37195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Finalize the technical architecture and ensure smooth integration with Salesforce for enhanced functionality and performance.</a:t>
            </a:r>
          </a:p>
        </p:txBody>
      </p:sp>
      <p:sp>
        <p:nvSpPr>
          <p:cNvPr id="436" name="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9191625" y="5438775"/>
            <a:ext cx="37195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Marketing Strategy</a:t>
            </a:r>
          </a:p>
        </p:txBody>
      </p:sp>
      <p:sp>
        <p:nvSpPr>
          <p:cNvPr id="438" name="Description of a primary heading-2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9191625" y="5898928"/>
            <a:ext cx="37195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Develop a comprehensive marketing strategy to effectively promote the LoanMate AI solution to potential users and stakeholders.</a:t>
            </a:r>
          </a:p>
        </p:txBody>
      </p:sp>
      <p:sp>
        <p:nvSpPr>
          <p:cNvPr id="440" name="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3254038" y="5438775"/>
            <a:ext cx="37195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Implementation Timelines</a:t>
            </a:r>
          </a:p>
        </p:txBody>
      </p:sp>
      <p:sp>
        <p:nvSpPr>
          <p:cNvPr id="442" name="Description of a primary heading-3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13254038" y="5898928"/>
            <a:ext cx="37195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Set clear timelines for implementation and deployment, aligning all teams on project milestones and deliverables.</a:t>
            </a:r>
          </a:p>
        </p:txBody>
      </p:sp>
      <p:sp>
        <p:nvSpPr>
          <p:cNvPr id="444" name="Click here to edit title-461">
            <a:extLst>
              <a:ext uri="{FF2B5EF4-FFF2-40B4-BE49-F238E27FC236}">
                <a16:creationId xmlns:a16="http://schemas.microsoft.com/office/drawing/2014/main" xmlns:p14="http://schemas.microsoft.com/office/powerpoint/2010/main" xmlns:a14="http://schemas.microsoft.com/office/drawing/2010/main" xmlns:asvg="http://schemas.microsoft.com/office/drawing/2016/SVG/main" xmlns="" id="{111B4A49-B930-4A89-A1CD-6CA2B3D95AED}"/>
              </a:ext>
            </a:extLst>
          </p:cNvPr>
          <p:cNvSpPr txBox="1"/>
          <p:nvPr/>
        </p:nvSpPr>
        <p:spPr>
          <a:xfrm>
            <a:off x="876300" y="838200"/>
            <a:ext cx="16568738" cy="733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2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Next Steps for LoanMate AI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49" name="coverimage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76300" y="876300"/>
            <a:ext cx="7134225" cy="8534400"/>
          </a:xfrm>
          <a:prstGeom prst="rect">
            <a:avLst/>
          </a:prstGeom>
        </p:spPr>
      </p:pic>
      <p:sp>
        <p:nvSpPr>
          <p:cNvPr id="451" name="Call-To-Action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876300"/>
            <a:ext cx="8558212" cy="1800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sz="54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Transform Your Loan Experience</a:t>
            </a:r>
          </a:p>
        </p:txBody>
      </p:sp>
      <p:sp>
        <p:nvSpPr>
          <p:cNvPr id="453" name="A small sentence which explains all about this presentation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2780538"/>
            <a:ext cx="855821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dirty="0">
                <a:solidFill>
                  <a:srgbClr val="50545B">
                    <a:alpha val="100000"/>
                  </a:srgbClr>
                </a:solidFill>
                <a:latin typeface="Lato" panose="00000700000000000000" pitchFamily="2" charset="0"/>
              </a:rPr>
              <a:t>Join us in revolutionizing the loan application process through innovative AI solutions.</a:t>
            </a:r>
          </a:p>
        </p:txBody>
      </p:sp>
      <p:sp>
        <p:nvSpPr>
          <p:cNvPr id="455" name="Enter primary text...-48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413385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Address</a:t>
            </a:r>
          </a:p>
        </p:txBody>
      </p:sp>
      <p:sp>
        <p:nvSpPr>
          <p:cNvPr id="457" name="Enter address text-48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447675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Address</a:t>
            </a:r>
          </a:p>
        </p:txBody>
      </p:sp>
      <p:sp>
        <p:nvSpPr>
          <p:cNvPr id="459" name="Enter primary text...-425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502920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Phone Number</a:t>
            </a:r>
          </a:p>
        </p:txBody>
      </p:sp>
      <p:sp>
        <p:nvSpPr>
          <p:cNvPr id="461" name="Enter phone text-409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537210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Phone Number</a:t>
            </a:r>
          </a:p>
        </p:txBody>
      </p:sp>
      <p:sp>
        <p:nvSpPr>
          <p:cNvPr id="463" name="Enter primary text...-409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592455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Email</a:t>
            </a:r>
          </a:p>
        </p:txBody>
      </p:sp>
      <p:sp>
        <p:nvSpPr>
          <p:cNvPr id="465" name="Enter email text-487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626745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Email</a:t>
            </a:r>
          </a:p>
        </p:txBody>
      </p:sp>
      <p:sp>
        <p:nvSpPr>
          <p:cNvPr id="467" name="Enter primary text...-498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681990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Date</a:t>
            </a:r>
          </a:p>
        </p:txBody>
      </p:sp>
      <p:sp>
        <p:nvSpPr>
          <p:cNvPr id="469" name="MM/DD/YYYY-403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716280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Date</a:t>
            </a:r>
          </a:p>
        </p:txBody>
      </p:sp>
      <p:sp>
        <p:nvSpPr>
          <p:cNvPr id="471" name="Enter primary text...-475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771525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Time</a:t>
            </a:r>
          </a:p>
        </p:txBody>
      </p:sp>
      <p:sp>
        <p:nvSpPr>
          <p:cNvPr id="473" name="hh:mm:ss-41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805815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Time</a:t>
            </a:r>
          </a:p>
        </p:txBody>
      </p:sp>
      <p:sp>
        <p:nvSpPr>
          <p:cNvPr id="475" name="Enter primary text...-43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8610600"/>
            <a:ext cx="19859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b="1" dirty="0">
                <a:solidFill>
                  <a:srgbClr val="09224E">
                    <a:alpha val="100000"/>
                  </a:srgbClr>
                </a:solidFill>
                <a:latin typeface="Poppins" panose="00000700000000000000" pitchFamily="2" charset="0"/>
              </a:rPr>
              <a:t>Website</a:t>
            </a:r>
          </a:p>
        </p:txBody>
      </p:sp>
      <p:sp>
        <p:nvSpPr>
          <p:cNvPr id="477" name="Enter website text-474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8884825" y="8953500"/>
            <a:ext cx="198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dirty="0">
                <a:solidFill>
                  <a:srgbClr val="09224E">
                    <a:alpha val="100000"/>
                  </a:srgbClr>
                </a:solidFill>
                <a:latin typeface="Lato" panose="00000700000000000000" pitchFamily="2" charset="0"/>
              </a:rPr>
              <a:t>Insert Website</a:t>
            </a:r>
          </a:p>
        </p:txBody>
      </p:sp>
      <p:pic>
        <p:nvPicPr>
          <p:cNvPr id="479" name="layoutShapeInnerChild1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686550"/>
            <a:ext cx="33718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83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876300" y="876300"/>
            <a:ext cx="16535400" cy="8534400"/>
          </a:xfrm>
          <a:prstGeom prst="rect">
            <a:avLst/>
          </a:prstGeom>
          <a:effectLst>
            <a:outerShdw blurRad="142875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484" name="layoutShapeInnerChild2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73250" y="6111181"/>
            <a:ext cx="3714750" cy="4175819"/>
          </a:xfrm>
          <a:prstGeom prst="rect">
            <a:avLst/>
          </a:prstGeom>
        </p:spPr>
      </p:pic>
      <p:pic>
        <p:nvPicPr>
          <p:cNvPr id="485" name="coverimage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876300" y="876300"/>
            <a:ext cx="16535400" cy="8534400"/>
          </a:xfrm>
          <a:prstGeom prst="rect">
            <a:avLst/>
          </a:prstGeom>
        </p:spPr>
      </p:pic>
      <p:pic>
        <p:nvPicPr>
          <p:cNvPr id="487" name="Rect">
            <a:extLst>
              <a:ext uri="{FF2B5EF4-FFF2-40B4-BE49-F238E27FC236}">
                <a16:creationId xmlns:a16="http://schemas.microsoft.com/office/drawing/2014/main" xmlns:p14="http://schemas.microsoft.com/office/powerpoint/2010/main" xmlns="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60000"/>
          </a:blip>
          <a:stretch/>
        </p:blipFill>
        <p:spPr>
          <a:xfrm>
            <a:off x="876300" y="876300"/>
            <a:ext cx="16535400" cy="8534400"/>
          </a:xfrm>
          <a:prstGeom prst="rect">
            <a:avLst/>
          </a:prstGeom>
        </p:spPr>
      </p:pic>
      <p:sp>
        <p:nvSpPr>
          <p:cNvPr id="489" name="Thank You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3352800" y="4413980"/>
            <a:ext cx="11615738" cy="952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5400" b="1" dirty="0">
                <a:solidFill>
                  <a:srgbClr val="F9F9F9">
                    <a:alpha val="100000"/>
                  </a:srgbClr>
                </a:solidFill>
                <a:latin typeface="Poppins" panose="00000700000000000000" pitchFamily="2" charset="0"/>
              </a:rPr>
              <a:t>Thank You for Your Attention</a:t>
            </a:r>
          </a:p>
        </p:txBody>
      </p:sp>
      <p:sp>
        <p:nvSpPr>
          <p:cNvPr id="491" name="A small sentence which explains all about this presentation-0">
            <a:extLst>
              <a:ext uri="{FF2B5EF4-FFF2-40B4-BE49-F238E27FC236}">
                <a16:creationId xmlns:a16="http://schemas.microsoft.com/office/drawing/2014/main" xmlns:p14="http://schemas.microsoft.com/office/powerpoint/2010/main" xmlns="" id="{111B4A49-B930-4A89-A1CD-6CA2B3D95AED}"/>
              </a:ext>
            </a:extLst>
          </p:cNvPr>
          <p:cNvSpPr txBox="1"/>
          <p:nvPr/>
        </p:nvSpPr>
        <p:spPr>
          <a:xfrm>
            <a:off x="3352800" y="5467731"/>
            <a:ext cx="11615738" cy="419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2100" dirty="0">
                <a:solidFill>
                  <a:srgbClr val="F9F9F9">
                    <a:alpha val="100000"/>
                  </a:srgbClr>
                </a:solidFill>
                <a:latin typeface="Lato" panose="00000700000000000000" pitchFamily="2" charset="0"/>
              </a:rPr>
              <a:t>We invite your questions and insights regarding LoanMate AI.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414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Poppins SemiBold</vt:lpstr>
      <vt:lpstr>Lato</vt:lpstr>
      <vt:lpstr>Calibri</vt:lpstr>
      <vt:lpstr>Poppins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 2.0.5.0, docId: 16975278, orderId: 7126017</dc:title>
  <dc:creator>Presentations.AI Exporter</dc:creator>
  <cp:lastModifiedBy>Shwetank</cp:lastModifiedBy>
  <cp:revision>2</cp:revision>
  <dcterms:created xsi:type="dcterms:W3CDTF">2025-04-30T12:11:44Z</dcterms:created>
  <dcterms:modified xsi:type="dcterms:W3CDTF">2025-04-30T12:42:50Z</dcterms:modified>
</cp:coreProperties>
</file>